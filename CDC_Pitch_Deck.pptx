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0F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</c:v>
                </c:pt>
                <c:pt idx="1">
                  <c:v>1.4</c:v>
                </c:pt>
                <c:pt idx="2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63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3A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7"/>
        </a:solidFill>
        <a:ln>
          <a:noFill/>
        </a:ln>
        <a:effectLst/>
      </c:spPr>
    </c:plotArea>
    <c:plotVisOnly val="1"/>
    <c:dispBlanksAs val="span"/>
  </c:chart>
  <c:spPr>
    <a:solidFill>
      <a:srgbClr val="0B0F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F2FE"/>
              </a:solidFill>
              <a:effectLst/>
            </c:spPr>
          </c:dPt>
          <c:dPt>
            <c:idx val="1"/>
            <c:bubble3D val="0"/>
            <c:spPr>
              <a:solidFill>
                <a:srgbClr val="7F00FF"/>
              </a:solidFill>
              <a:effectLst/>
            </c:spPr>
          </c:dPt>
          <c:dPt>
            <c:idx val="2"/>
            <c:bubble3D val="0"/>
            <c:spPr>
              <a:solidFill>
                <a:srgbClr val="4A556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B0F1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B0F1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B0F1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Expansion</c:v>
                </c:pt>
                <c:pt idx="1">
                  <c:v>R&amp;D</c:v>
                </c:pt>
                <c:pt idx="2">
                  <c:v>Marketing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B0F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143000"/>
            <a:ext cx="704088" cy="1188720"/>
          </a:xfrm>
          <a:prstGeom prst="line">
            <a:avLst/>
          </a:prstGeom>
          <a:noFill/>
          <a:ln w="19050">
            <a:solidFill>
              <a:srgbClr val="1E26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36608" y="2331720"/>
            <a:ext cx="694944" cy="1188720"/>
          </a:xfrm>
          <a:prstGeom prst="line">
            <a:avLst/>
          </a:prstGeom>
          <a:noFill/>
          <a:ln w="19050">
            <a:solidFill>
              <a:srgbClr val="1E26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1552" y="3520440"/>
            <a:ext cx="704088" cy="1188720"/>
          </a:xfrm>
          <a:prstGeom prst="line">
            <a:avLst/>
          </a:prstGeom>
          <a:noFill/>
          <a:ln w="19050">
            <a:solidFill>
              <a:srgbClr val="1E26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914400"/>
            <a:ext cx="457200" cy="457200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6" name="Shape 4"/>
          <p:cNvSpPr/>
          <p:nvPr/>
        </p:nvSpPr>
        <p:spPr>
          <a:xfrm>
            <a:off x="9272016" y="2167128"/>
            <a:ext cx="329184" cy="329184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7" name="Shape 5"/>
          <p:cNvSpPr/>
          <p:nvPr/>
        </p:nvSpPr>
        <p:spPr>
          <a:xfrm>
            <a:off x="9930384" y="3319272"/>
            <a:ext cx="402336" cy="402336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572000"/>
            <a:ext cx="274320" cy="274320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566928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CAUCASIAN DIGITAL CENTER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Regional Talent to Global Enterprise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PITCH DECK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$1.5B Trust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4206240"/>
          </a:xfrm>
          <a:prstGeom prst="roundRect">
            <a:avLst>
              <a:gd name="adj" fmla="val 1957"/>
            </a:avLst>
          </a:prstGeom>
          <a:solidFill>
            <a:srgbClr val="0F2028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value lost across the Caucasus region to unverified freelance talent, credential fraud, and cross-border payment risk.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BAKU FACT-CHECK HOOK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214884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circulated case out of Baku exposed how easily a fabricated portfolio and credential set passed unchecked on a general marketplace — costing one enterprise buyer six figures in wasted spend and reputational risk. It's the story regional buyers already know, and the gap CDC was built to close.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3794760"/>
            <a:ext cx="384048" cy="384048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7398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standard exists for verifying skills, identity, or credentials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4507992"/>
            <a:ext cx="384048" cy="384048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default to Western platforms out of trust, not value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5221224"/>
            <a:ext cx="384048" cy="384048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5166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fraud and chargebacks erode confidence on both sides of every deal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carries regional talent from first lesson to signed contract.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12064" cy="512064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EdTech curriculum and certification tracks build in-demand digital skills, from junior fundamentals to specialist tracks.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02938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68698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8738" y="2286000"/>
            <a:ext cx="512064" cy="512064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8873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8738" y="30175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8738" y="352044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credential, work sample, and identity claim passes through CDC's fact-check layer before a profile goes live — the trust layer competitors skip.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22997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88757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8797" y="2286000"/>
            <a:ext cx="512064" cy="512064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8508797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8797" y="30175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08797" y="352044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buyers hire and pay through a PSD2-compliant, escrow-protected marketplace, with funds released only on verified delivery.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&amp;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7188" cy="1965960"/>
          </a:xfrm>
          <a:prstGeom prst="roundRect">
            <a:avLst>
              <a:gd name="adj" fmla="val 4186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015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PSD2 &amp; SCA Compliant Payments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Authentication and PSD2-aligned rails secure every cross-border transaction on the platform.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783080"/>
            <a:ext cx="5387188" cy="1965960"/>
          </a:xfrm>
          <a:prstGeom prst="roundRect">
            <a:avLst>
              <a:gd name="adj" fmla="val 4186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5908" y="2103120"/>
            <a:ext cx="548640" cy="548640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1" name="Text 9"/>
          <p:cNvSpPr/>
          <p:nvPr/>
        </p:nvSpPr>
        <p:spPr>
          <a:xfrm>
            <a:off x="65759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07428" y="2057400"/>
            <a:ext cx="4015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Protection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5908" y="274320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signals and device fingerprinting block credential-stuffing and takeover attempts in real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87188" cy="1965960"/>
          </a:xfrm>
          <a:prstGeom prst="roundRect">
            <a:avLst>
              <a:gd name="adj" fmla="val 4186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4343400"/>
            <a:ext cx="4015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Regional Locales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localized product and support across nine languages spoken throughout the Caucasus and neighboring markets.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87188" cy="1965960"/>
          </a:xfrm>
          <a:prstGeom prst="roundRect">
            <a:avLst>
              <a:gd name="adj" fmla="val 4186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5908" y="4389120"/>
            <a:ext cx="548640" cy="548640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21" name="Text 19"/>
          <p:cNvSpPr/>
          <p:nvPr/>
        </p:nvSpPr>
        <p:spPr>
          <a:xfrm>
            <a:off x="6575908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07428" y="4343400"/>
            <a:ext cx="4015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Data Encryption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5908" y="502920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at rest and in transit, on infrastructure controls aligned to SOC2 practices.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0F2028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freelance and gig economy at large, 2026.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8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A1230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68698" y="233172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68698" y="27432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88738" y="39319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8738" y="4434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Caucasus and neighboring regional digital labor market.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8757" y="233172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8757" y="27432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508797" y="39319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8797" y="4434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CDC's realistic 3-year capture across initial hub markets.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Durable Revenue Streams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Take Rate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fee on every completed engagement, released from escrow only on verified delivery — CDC's primary revenue engine.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8698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8738" y="2331720"/>
            <a:ext cx="777240" cy="777240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1" name="Text 9"/>
          <p:cNvSpPr/>
          <p:nvPr/>
        </p:nvSpPr>
        <p:spPr>
          <a:xfrm>
            <a:off x="4688738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8738" y="333756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8738" y="384048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seat- and API-based plans for enterprise buyers who need ongoing access to verified regional talent pools.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8757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8797" y="2331720"/>
            <a:ext cx="777240" cy="777240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16" name="Text 14"/>
          <p:cNvSpPr/>
          <p:nvPr/>
        </p:nvSpPr>
        <p:spPr>
          <a:xfrm>
            <a:off x="8508797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8797" y="333756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8797" y="3840480"/>
            <a:ext cx="28142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certification tracks and premium courses that convert learners into verified, transaction-ready platform talent.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ARR Growth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4778" cy="1371600"/>
          </a:xfrm>
          <a:prstGeom prst="roundRect">
            <a:avLst>
              <a:gd name="adj" fmla="val 6000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33418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53458" y="1737360"/>
            <a:ext cx="3484778" cy="1371600"/>
          </a:xfrm>
          <a:prstGeom prst="roundRect">
            <a:avLst>
              <a:gd name="adj" fmla="val 6000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7778" y="190195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7778" y="217627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7778" y="27249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38237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58277" y="1737360"/>
            <a:ext cx="3484778" cy="1371600"/>
          </a:xfrm>
          <a:prstGeom prst="roundRect">
            <a:avLst>
              <a:gd name="adj" fmla="val 6000"/>
            </a:avLst>
          </a:prstGeom>
          <a:solidFill>
            <a:srgbClr val="0F2028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2597" y="190195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32597" y="217627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32597" y="27249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· 68% margin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429000"/>
          <a:ext cx="11094415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CDC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81528" y="1709928"/>
            <a:ext cx="2843784" cy="3429000"/>
          </a:xfrm>
          <a:prstGeom prst="roundRect">
            <a:avLst>
              <a:gd name="adj" fmla="val 2894"/>
            </a:avLst>
          </a:prstGeom>
          <a:solidFill>
            <a:srgbClr val="0F2028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54680" y="17830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52744" y="17830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50808" y="17830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Job Boards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trust &amp; verification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239572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fact-check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52744" y="239572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global-only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239572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0948111" cy="0"/>
          </a:xfrm>
          <a:prstGeom prst="line">
            <a:avLst/>
          </a:prstGeom>
          <a:noFill/>
          <a:ln w="9525">
            <a:solidFill>
              <a:srgbClr val="1E2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language support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292608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regional locales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52744" y="292608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50808" y="2926080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10948111" cy="0"/>
          </a:xfrm>
          <a:prstGeom prst="line">
            <a:avLst/>
          </a:prstGeom>
          <a:noFill/>
          <a:ln w="9525">
            <a:solidFill>
              <a:srgbClr val="1E2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564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compliance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54680" y="345643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PSD2 / SCA + escrow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2744" y="345643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US-centric rails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50808" y="345643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offline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86784"/>
            <a:ext cx="10948111" cy="0"/>
          </a:xfrm>
          <a:prstGeom prst="line">
            <a:avLst/>
          </a:prstGeom>
          <a:noFill/>
          <a:ln w="9525">
            <a:solidFill>
              <a:srgbClr val="1E26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867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154680" y="398678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EdTech-to-employment funnel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52744" y="398678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50808" y="398678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17136"/>
            <a:ext cx="10948111" cy="0"/>
          </a:xfrm>
          <a:prstGeom prst="line">
            <a:avLst/>
          </a:prstGeom>
          <a:noFill/>
          <a:ln w="9525">
            <a:solidFill>
              <a:srgbClr val="1E26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171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take rate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154680" y="45171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52744" y="45171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50808" y="45171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Rollout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compounds into the next — supply, demand, then regional depth.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12064" cy="512064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FUNNEL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certification tracks to build a qualified, verified talent pipeline from day one — turning learners into supply before enterprise demand goes live.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02938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68698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8738" y="2286000"/>
            <a:ext cx="512064" cy="512064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8873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8738" y="30175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PARTNERSHIPS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8738" y="352044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anchor enterprise and agency partnerships that bring committed hiring demand directly into the verified marketplace.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22997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88757" y="1965960"/>
            <a:ext cx="3454298" cy="3749040"/>
          </a:xfrm>
          <a:prstGeom prst="roundRect">
            <a:avLst>
              <a:gd name="adj" fmla="val 2382"/>
            </a:avLst>
          </a:prstGeom>
          <a:solidFill>
            <a:srgbClr val="131A26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8797" y="2286000"/>
            <a:ext cx="512064" cy="512064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8508797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8797" y="30175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HUBS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08797" y="352044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physical and operational hubs in key regional markets to deepen trust, localize support, and unlock enterprise-grade compliance.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$500,000 Seed 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Use of Funds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01168" cy="201168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201168" cy="201168"/>
          </a:xfrm>
          <a:prstGeom prst="ellipse">
            <a:avLst/>
          </a:prstGeom>
          <a:solidFill>
            <a:srgbClr val="7F00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70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4270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201168" cy="201168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37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4837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09360" y="173736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5989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bridge the gap together.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 add email ]   ·   Website: [ add website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2026-08-23T06:19:23Z</dcterms:created>
  <dcterms:modified xsi:type="dcterms:W3CDTF">2026-08-23T06:19:23Z</dcterms:modified>
</cp:coreProperties>
</file>